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ox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Original Title Box</a:t>
            </a:r>
          </a:p>
        </p:txBody>
      </p:sp>
      <p:sp>
        <p:nvSpPr>
          <p:cNvPr id="3" name="Spinner Box"/>
          <p:cNvSpPr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Spinner Box</a:t>
            </a:r>
          </a:p>
        </p:txBody>
      </p:sp>
      <p:sp>
        <p:nvSpPr>
          <p:cNvPr id="4" name="Exit Oval"/>
          <p:cNvSpPr/>
          <p:nvPr/>
        </p:nvSpPr>
        <p:spPr>
          <a:xfrm>
            <a:off x="3657600" y="2286000"/>
            <a:ext cx="18288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Exit Oval</a:t>
            </a:r>
          </a:p>
        </p:txBody>
      </p:sp>
      <p:sp>
        <p:nvSpPr>
          <p:cNvPr id="5" name="Motion Star"/>
          <p:cNvSpPr/>
          <p:nvPr/>
        </p:nvSpPr>
        <p:spPr>
          <a:xfrm>
            <a:off x="914400" y="4114800"/>
            <a:ext cx="18288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Motion Star</a:t>
            </a:r>
          </a:p>
        </p:txBody>
      </p:sp>
      <p:sp>
        <p:nvSpPr>
          <p:cNvPr id="6" name="Bullet Box"/>
          <p:cNvSpPr txBox="1"/>
          <p:nvPr/>
        </p:nvSpPr>
        <p:spPr>
          <a:xfrm>
            <a:off x="3657600" y="4114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paragraph line</a:t>
            </a:r>
          </a:p>
          <a:p>
            <a:r>
              <a:t>Second paragraph line</a:t>
            </a:r>
          </a:p>
        </p:txBody>
      </p:sp>
      <p:sp>
        <p:nvSpPr>
          <p:cNvPr id="7" name="Deleted Diamond"/>
          <p:cNvSpPr/>
          <p:nvPr/>
        </p:nvSpPr>
        <p:spPr>
          <a:xfrm>
            <a:off x="6400800" y="914400"/>
            <a:ext cx="13716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Deleted Diamond</a:t>
            </a:r>
          </a:p>
        </p:txBody>
      </p:sp>
    </p:spTree>
  </p:cSld>
  <p:clrMapOvr>
    <a:masterClrMapping/>
  </p:clrMapOvr>
  <p:transition>
    <p:wipe dir="r"/>
  </p:transition>
  <p:timing>
    <p:tnLst>
      <p:cTn id="1" dur="indefinite" restart="never" nodeType="tmRoot">
        <p:childTnLst>
          <p:seq concurrent="1" nextAc="seek">
            <p:cTn id="2" dur="indefinite" nodeType="mainSeq">
              <p:childTnLst>
                <!-- 1. Entrance Fade on Shape 2 -->
                <p:par>
                  <p:cTn id="3" fill="hold">
                    <p:stCondLst>
                      <p:cond delay="0"/>
                    </p:stCondLst>
                    <p:childTnLst>
                      <p:par>
                        <p:cTn id="4" presetID="10" presetClass="entr" presetSubtype="0" fill="hold" nodeType="clickEffect">
                          <p:childTnLst>
                            <p:set>
                              <p:cBhvr>
                                <p:cTn id="5" dur="1" fill="hold"/>
                                <p:tgtEl>
                                  <p:spTgt spid="2"/>
                                </p:tgtEl>
                                <p:attrNameLst>
                                  <p:attrName>style.visibility</p:attrName>
                                </p:attrNameLst>
                              </p:cBhvr>
                              <p:to>
                                <p:strVal val="visible"/>
                              </p:to>
                            </p:set>
                            <p:animEffect transition="in" filter="fade">
                              <p:cBhvr>
                                <p:cTn id="6" dur="5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!-- 2. Emphasis Spin on Shape 3 -->
                <p:par>
                  <p:cTn id="7" fill="hold">
                    <p:stCondLst>
                      <p:cond delay="0"/>
                    </p:stCondLst>
                    <p:childTnLst>
                      <p:par>
                        <p:cTn id="8" presetID="23" presetClass="emph" presetSubtype="0" fill="hold" nodeType="clickEffect">
                          <p:childTnLst>
                            <p:animRot by="21600000">
                              <p:cBhvr>
                                <p:cTn id="9" dur="1000"/>
                                <p:tgtEl>
                                  <p:spTgt spid="3"/>
                                </p:tgtEl>
                              </p:cBhvr>
                            </p:animRot>
                          </p:childTnLst>
                        </p:cTn>
                      </p:par>
                    </p:childTnLst>
                  </p:cTn>
                </p:par>
                <!-- 3. Exit Fade on Shape 4 -->
                <p:par>
                  <p:cTn id="10" fill="hold">
                    <p:stCondLst>
                      <p:cond delay="200"/>
                    </p:stCondLst>
                    <p:childTnLst>
                      <p:par>
                        <p:cTn id="11" presetID="10" presetClass="exit" presetSubtype="0" fill="hold" nodeType="afterEffect">
                          <p:childTnLst>
                            <p:animEffect transition="out" filter="fade">
                              <p:cBhvr>
                                <p:cTn id="12" dur="500"/>
                                <p:tgtEl>
                                  <p:spTgt spid="4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!-- 4. Motion Path on Shape 5 -->
                <p:par>
                  <p:cTn id="13" fill="hold">
                    <p:stCondLst>
                      <p:cond delay="0"/>
                    </p:stCondLst>
                    <p:childTnLst>
                      <p:par>
                        <p:cTn id="14" presetID="55" presetClass="path" presetSubtype="0" fill="hold" nodeType="clickEffect">
                          <p:childTnLst>
                            <p:animMotion origin="layout" path="M 0 0 L 0.25 0.25 E" ptsTypes="">
                              <p:cBhvr>
                                <p:cTn id="15" dur="1500"/>
                                <p:tgtEl>
                                  <p:spTgt spid="5"/>
                                </p:tgtEl>
                              </p:cBhvr>
                            </p:animMotion>
                          </p:childTnLst>
                        </p:cTn>
                      </p:par>
                    </p:childTnLst>
                  </p:cTn>
                </p:par>
                <!-- 5. By-Paragraph Build on Shape 6 -->
                <p:par>
                  <p:cTn id="16" fill="hold">
                    <p:stCondLst>
                      <p:cond delay="0"/>
                    </p:stCondLst>
                    <p:childTnLst>
                      <p:par>
                        <p:cTn id="17" presetID="1" presetClass="entr" fill="hold" nodeType="clickEffect">
                          <p:childTnLst>
                            <p:set>
                              <p:cBhvr>
                                <p:cTn id="18" dur="1"/>
                                <p:tgtEl>
                                  <p:spTgt spid="6">
                                    <p:txEl>
                                      <p:pRg st="0" end="0"/>
                                    </p:txEl>
                                  </p:spTgt>
                                </p:tgtEl>
                              </p:cBhvr>
                            </p:set>
                          </p:childTnLst>
                        </p:cTn>
                      </p:par>
                    </p:childTnLst>
                  </p:cTn>
                </p:par>
                <!-- 6. Target on Shape 7 (will be DELETED in remediated deck) -->
                <p:par>
                  <p:cTn id="19" fill="hold">
                    <p:stCondLst>
                      <p:cond delay="0"/>
                    </p:stCondLst>
                    <p:childTnLst>
                      <p:par>
                        <p:cTn id="20" presetID="10" presetClass="entr" fill="hold" nodeType="clickEffect">
                          <p:childTnLst>
                            <p:animEffect transition="in" filter="fade">
                              <p:cBhvr>
                                <p:cTn id="21" dur="500"/>
                                <p:tgtEl>
                                  <p:spTgt spid="7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</p:childTnLst>
            </p:cTn>
          </p:seq>
          <!-- 7. Interactive Sequence Trigger on Shape 2 -->
          <p:seq concurrent="1" nextAc="seek">
            <p:cTn id="22" dur="indefinite" nodeType="interactiveSeq">
              <p:stCondLst>
                <p:cond evt="onClick" delay="0">
                  <p:tgtEl>
                    <p:spTgt spid="2"/>
                  </p:tgtEl>
                </p:cond>
              </p:stCondLst>
              <p:childTnLst>
                <p:par>
                  <p:cTn id="23" presetID="23" presetClass="emph" fill="hold" nodeType="clickEffect">
                    <p:childTnLst>
                      <p:animRot by="10800000">
                        <p:cBhvr>
                          <p:cTn id="24" dur="500"/>
                          <p:tgtEl>
                            <p:spTgt spid="3"/>
                          </p:tgtEl>
                        </p:cBhvr>
                      </p:animRot>
                    </p:childTnLst>
                  </p:cTn>
                </p:par>
              </p:childTnLst>
            </p:cTn>
          </p:seq>
        </p:childTnLst>
      </p:cTn>
    </p:tnLst>
    <p:bldLst>
      <p:bldP spid="6" grpId="0" build="p"/>
      <p:bldP spid="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